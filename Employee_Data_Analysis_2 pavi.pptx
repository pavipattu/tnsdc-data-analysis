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9" r:id="rId9"/>
    <p:sldId id="263" r:id="rId10"/>
    <p:sldId id="264" r:id="rId11"/>
    <p:sldId id="265" r:id="rId12"/>
    <p:sldId id="268" r:id="rId13"/>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654" y="5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nduru Narasimha" userId="bd3f5b018a89079d" providerId="LiveId" clId="{69F0B7B8-A48D-48FD-8D34-6509FC35AB36}"/>
    <pc:docChg chg="modSld">
      <pc:chgData name="Konduru Narasimha" userId="bd3f5b018a89079d" providerId="LiveId" clId="{69F0B7B8-A48D-48FD-8D34-6509FC35AB36}" dt="2024-03-30T14:42:22.571" v="0" actId="1076"/>
      <pc:docMkLst>
        <pc:docMk/>
      </pc:docMkLst>
      <pc:sldChg chg="modSp mod">
        <pc:chgData name="Konduru Narasimha" userId="bd3f5b018a89079d" providerId="LiveId" clId="{69F0B7B8-A48D-48FD-8D34-6509FC35AB36}" dt="2024-03-30T14:42:22.571" v="0" actId="1076"/>
        <pc:sldMkLst>
          <pc:docMk/>
          <pc:sldMk cId="0" sldId="265"/>
        </pc:sldMkLst>
        <pc:picChg chg="mod">
          <ac:chgData name="Konduru Narasimha" userId="bd3f5b018a89079d" providerId="LiveId" clId="{69F0B7B8-A48D-48FD-8D34-6509FC35AB36}" dt="2024-03-30T14:42:22.571" v="0" actId="1076"/>
          <ac:picMkLst>
            <pc:docMk/>
            <pc:sldMk cId="0" sldId="265"/>
            <ac:picMk id="13" creationId="{FEA2EDFA-59A4-12BC-EED8-7AFB8BE2180E}"/>
          </ac:picMkLst>
        </pc:pic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4B86612-B127-4CD0-BF15-66D49A7175F7}" type="datetimeFigureOut">
              <a:rPr lang="en-IN" smtClean="0"/>
              <a:t>19-09-2024</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7F439ED-1E90-4106-847A-8EF19031FE2F}" type="slidenum">
              <a:rPr lang="en-IN" smtClean="0"/>
              <a:t>‹#›</a:t>
            </a:fld>
            <a:endParaRPr lang="en-IN"/>
          </a:p>
        </p:txBody>
      </p:sp>
    </p:spTree>
    <p:extLst>
      <p:ext uri="{BB962C8B-B14F-4D97-AF65-F5344CB8AC3E}">
        <p14:creationId xmlns:p14="http://schemas.microsoft.com/office/powerpoint/2010/main" val="2918557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439ED-1E90-4106-847A-8EF19031FE2F}" type="slidenum">
              <a:rPr lang="en-IN" smtClean="0"/>
              <a:t>1</a:t>
            </a:fld>
            <a:endParaRPr lang="en-IN"/>
          </a:p>
        </p:txBody>
      </p:sp>
    </p:spTree>
    <p:extLst>
      <p:ext uri="{BB962C8B-B14F-4D97-AF65-F5344CB8AC3E}">
        <p14:creationId xmlns:p14="http://schemas.microsoft.com/office/powerpoint/2010/main" val="404353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9/19/2024</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9/19/2024</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9/19/2024</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9/19/2024</a:t>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1.emf"/><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6299" y="9906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5638800" y="833437"/>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a:spLocks noGrp="1"/>
          </p:cNvSpPr>
          <p:nvPr>
            <p:ph type="ctrTitle"/>
          </p:nvPr>
        </p:nvSpPr>
        <p:spPr>
          <a:xfrm>
            <a:off x="-828675" y="19665"/>
            <a:ext cx="9982200" cy="1001556"/>
          </a:xfrm>
          <a:prstGeom prst="rect">
            <a:avLst/>
          </a:prstGeom>
        </p:spPr>
        <p:txBody>
          <a:bodyPr vert="horz" wrap="square" lIns="0" tIns="16510" rIns="0" bIns="0" rtlCol="0">
            <a:spAutoFit/>
          </a:bodyPr>
          <a:lstStyle/>
          <a:p>
            <a:pPr marL="3213735">
              <a:spcBef>
                <a:spcPts val="130"/>
              </a:spcBef>
            </a:pPr>
            <a:r>
              <a:rPr lang="en-US" b="1" dirty="0">
                <a:solidFill>
                  <a:srgbClr val="0F0F0F"/>
                </a:solidFill>
                <a:latin typeface="Times New Roman" panose="02020603050405020304" pitchFamily="18" charset="0"/>
                <a:cs typeface="Times New Roman" panose="02020603050405020304" pitchFamily="18" charset="0"/>
              </a:rPr>
              <a:t>Employee Data Analysis using Excel</a:t>
            </a:r>
            <a:r>
              <a:rPr lang="en-US" b="1" i="0" dirty="0">
                <a:solidFill>
                  <a:srgbClr val="0F0F0F"/>
                </a:solidFill>
                <a:effectLst/>
                <a:latin typeface="Times New Roman" panose="02020603050405020304" pitchFamily="18" charset="0"/>
                <a:cs typeface="Times New Roman" panose="02020603050405020304" pitchFamily="18" charset="0"/>
              </a:rPr>
              <a:t> </a:t>
            </a:r>
            <a:r>
              <a:rPr lang="en-US" b="1" i="0" dirty="0">
                <a:solidFill>
                  <a:srgbClr val="0F0F0F"/>
                </a:solidFill>
                <a:effectLst/>
                <a:latin typeface="Roboto" panose="020F0502020204030204" pitchFamily="2" charset="0"/>
              </a:rPr>
              <a:t/>
            </a:r>
            <a:br>
              <a:rPr lang="en-US" b="1" i="0" dirty="0">
                <a:solidFill>
                  <a:srgbClr val="0F0F0F"/>
                </a:solidFill>
                <a:effectLst/>
                <a:latin typeface="Roboto" panose="020F0502020204030204" pitchFamily="2" charset="0"/>
              </a:rPr>
            </a:br>
            <a:endParaRPr spc="15" dirty="0"/>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1</a:t>
            </a:fld>
            <a:endParaRPr spc="10" dirty="0"/>
          </a:p>
        </p:txBody>
      </p:sp>
      <p:sp>
        <p:nvSpPr>
          <p:cNvPr id="14" name="TextBox 13">
            <a:extLst>
              <a:ext uri="{FF2B5EF4-FFF2-40B4-BE49-F238E27FC236}">
                <a16:creationId xmlns:a16="http://schemas.microsoft.com/office/drawing/2014/main" xmlns="" id="{D55ADE35-C35B-07C1-F5AA-C33B3DDB802E}"/>
              </a:ext>
            </a:extLst>
          </p:cNvPr>
          <p:cNvSpPr txBox="1"/>
          <p:nvPr/>
        </p:nvSpPr>
        <p:spPr>
          <a:xfrm>
            <a:off x="1219200" y="3314150"/>
            <a:ext cx="6934200" cy="3046988"/>
          </a:xfrm>
          <a:prstGeom prst="rect">
            <a:avLst/>
          </a:prstGeom>
          <a:noFill/>
        </p:spPr>
        <p:txBody>
          <a:bodyPr wrap="square" rtlCol="0">
            <a:spAutoFit/>
          </a:bodyPr>
          <a:lstStyle/>
          <a:p>
            <a:r>
              <a:rPr lang="en-US" sz="2400" dirty="0"/>
              <a:t>STUDENT </a:t>
            </a:r>
            <a:r>
              <a:rPr lang="en-US" sz="2400" dirty="0" err="1" smtClean="0"/>
              <a:t>NAME:Pavithra</a:t>
            </a:r>
            <a:r>
              <a:rPr lang="en-US" sz="2400" dirty="0" smtClean="0"/>
              <a:t> </a:t>
            </a:r>
            <a:r>
              <a:rPr lang="en-US" sz="2400" dirty="0" err="1" smtClean="0"/>
              <a:t>Malini</a:t>
            </a:r>
            <a:r>
              <a:rPr lang="en-US" sz="2400" dirty="0"/>
              <a:t> </a:t>
            </a:r>
            <a:r>
              <a:rPr lang="en-US" sz="2400" dirty="0" smtClean="0"/>
              <a:t>J </a:t>
            </a:r>
          </a:p>
          <a:p>
            <a:endParaRPr lang="en-US" sz="2400" dirty="0"/>
          </a:p>
          <a:p>
            <a:r>
              <a:rPr lang="en-US" sz="2400" dirty="0"/>
              <a:t>REGISTER </a:t>
            </a:r>
            <a:r>
              <a:rPr lang="en-US" sz="2400" dirty="0" smtClean="0"/>
              <a:t>NO:122203588</a:t>
            </a:r>
          </a:p>
          <a:p>
            <a:endParaRPr lang="en-US" sz="2400" dirty="0"/>
          </a:p>
          <a:p>
            <a:r>
              <a:rPr lang="en-US" sz="2400" dirty="0" err="1" smtClean="0"/>
              <a:t>DEPARTMENT:Bcom</a:t>
            </a:r>
            <a:r>
              <a:rPr lang="en-US" sz="2400" dirty="0" smtClean="0"/>
              <a:t> corporate </a:t>
            </a:r>
            <a:r>
              <a:rPr lang="en-US" sz="2400" dirty="0" err="1" smtClean="0"/>
              <a:t>secretaryship</a:t>
            </a:r>
            <a:r>
              <a:rPr lang="en-US" sz="2400" dirty="0" smtClean="0"/>
              <a:t> </a:t>
            </a:r>
          </a:p>
          <a:p>
            <a:endParaRPr lang="en-US" sz="2400" dirty="0"/>
          </a:p>
          <a:p>
            <a:r>
              <a:rPr lang="en-US" sz="2400" dirty="0" err="1" smtClean="0"/>
              <a:t>COLLEGE:Annai</a:t>
            </a:r>
            <a:r>
              <a:rPr lang="en-US" sz="2400" dirty="0" smtClean="0"/>
              <a:t> </a:t>
            </a:r>
            <a:r>
              <a:rPr lang="en-US" sz="2400" dirty="0" err="1" smtClean="0"/>
              <a:t>veilankanni’s</a:t>
            </a:r>
            <a:r>
              <a:rPr lang="en-US" sz="2400" dirty="0" smtClean="0"/>
              <a:t> college for women </a:t>
            </a:r>
            <a:endParaRPr lang="en-US" sz="2400" dirty="0"/>
          </a:p>
          <a:p>
            <a:r>
              <a:rPr lang="en-US" sz="2400" dirty="0"/>
              <a:t>           </a:t>
            </a:r>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81050"/>
            <a:ext cx="12192000" cy="7639516"/>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7" name="object 17"/>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z="4250" spc="5" dirty="0"/>
              <a:t>PROJECT</a:t>
            </a:r>
            <a:r>
              <a:rPr sz="4250" spc="-85" dirty="0"/>
              <a:t> </a:t>
            </a:r>
            <a:r>
              <a:rPr sz="4250" spc="25" dirty="0"/>
              <a:t>TITLE</a:t>
            </a:r>
            <a:endParaRPr sz="4250"/>
          </a:p>
        </p:txBody>
      </p:sp>
      <p:sp>
        <p:nvSpPr>
          <p:cNvPr id="21" name="Text Placeholder 20"/>
          <p:cNvSpPr>
            <a:spLocks noGrp="1"/>
          </p:cNvSpPr>
          <p:nvPr>
            <p:ph type="body" idx="1"/>
          </p:nvPr>
        </p:nvSpPr>
        <p:spPr>
          <a:xfrm>
            <a:off x="609600" y="2123270"/>
            <a:ext cx="8153400" cy="1991529"/>
          </a:xfrm>
        </p:spPr>
        <p:txBody>
          <a:bodyPr/>
          <a:lstStyle/>
          <a:p>
            <a:pPr marL="285750" indent="-285750">
              <a:buFont typeface="Arial" panose="020B0604020202020204" pitchFamily="34" charset="0"/>
              <a:buChar char="•"/>
            </a:pPr>
            <a:r>
              <a:rPr lang="en-IN" dirty="0" smtClean="0"/>
              <a:t>Optimizing workforce performance a comprehensive employee data analysis </a:t>
            </a:r>
            <a:endParaRPr lang="en-IN" dirty="0"/>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2</a:t>
            </a:fld>
            <a:endParaRPr spc="10" dirty="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5419" y="161925"/>
            <a:ext cx="12481713"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p>
        </p:txBody>
      </p:sp>
      <p:sp>
        <p:nvSpPr>
          <p:cNvPr id="24" name="Text Placeholder 23"/>
          <p:cNvSpPr>
            <a:spLocks noGrp="1"/>
          </p:cNvSpPr>
          <p:nvPr>
            <p:ph type="body" idx="1"/>
          </p:nvPr>
        </p:nvSpPr>
        <p:spPr>
          <a:xfrm>
            <a:off x="2819400" y="2895600"/>
            <a:ext cx="6783478" cy="3238500"/>
          </a:xfrm>
        </p:spPr>
        <p:txBody>
          <a:bodyPr/>
          <a:lstStyle/>
          <a:p>
            <a:pPr marL="285750" indent="-285750">
              <a:buFont typeface="Arial" panose="020B0604020202020204" pitchFamily="34" charset="0"/>
              <a:buChar char="•"/>
            </a:pPr>
            <a:r>
              <a:rPr lang="en-IN" dirty="0" smtClean="0"/>
              <a:t>Types of employee data to be </a:t>
            </a:r>
            <a:r>
              <a:rPr lang="en-IN" dirty="0" err="1" smtClean="0"/>
              <a:t>analyzed</a:t>
            </a:r>
            <a:r>
              <a:rPr lang="en-IN" dirty="0"/>
              <a:t> </a:t>
            </a:r>
            <a:r>
              <a:rPr lang="en-IN" dirty="0" smtClean="0"/>
              <a:t> </a:t>
            </a:r>
            <a:r>
              <a:rPr lang="en-IN" dirty="0" err="1" smtClean="0"/>
              <a:t>eg</a:t>
            </a:r>
            <a:r>
              <a:rPr lang="en-IN" dirty="0" smtClean="0"/>
              <a:t> performance metrics attendance retention rates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Data sources and collection methods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Data cleaning and </a:t>
            </a:r>
            <a:r>
              <a:rPr lang="en-IN" dirty="0" err="1" smtClean="0"/>
              <a:t>preproccessing</a:t>
            </a:r>
            <a:r>
              <a:rPr lang="en-IN" dirty="0" smtClean="0"/>
              <a: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Ensure data quality and consistency </a:t>
            </a:r>
            <a:endParaRPr lang="en-IN" dirty="0"/>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3</a:t>
            </a:fld>
            <a:endParaRPr spc="10" dirty="0"/>
          </a:p>
        </p:txBody>
      </p:sp>
      <p:sp>
        <p:nvSpPr>
          <p:cNvPr id="23" name="TextBox 22">
            <a:extLst>
              <a:ext uri="{FF2B5EF4-FFF2-40B4-BE49-F238E27FC236}">
                <a16:creationId xmlns:a16="http://schemas.microsoft.com/office/drawing/2014/main" xmlns="" id="{D0827FA3-A9D4-0FE5-45BE-664C8C920E82}"/>
              </a:ext>
            </a:extLst>
          </p:cNvPr>
          <p:cNvSpPr txBox="1"/>
          <p:nvPr/>
        </p:nvSpPr>
        <p:spPr>
          <a:xfrm>
            <a:off x="2509807" y="1041533"/>
            <a:ext cx="5029200" cy="1384995"/>
          </a:xfrm>
          <a:prstGeom prst="rect">
            <a:avLst/>
          </a:prstGeom>
          <a:noFill/>
        </p:spPr>
        <p:txBody>
          <a:bodyPr wrap="square" rtlCol="0">
            <a:spAutoFit/>
          </a:bodyPr>
          <a:lstStyle/>
          <a:p>
            <a:pPr algn="l"/>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r>
              <a:rPr lang="en-US" sz="2800" dirty="0">
                <a:solidFill>
                  <a:srgbClr val="0D0D0D"/>
                </a:solidFill>
                <a:latin typeface="Times New Roman" panose="02020603050405020304" pitchFamily="18" charset="0"/>
                <a:cs typeface="Times New Roman" panose="02020603050405020304" pitchFamily="18" charset="0"/>
              </a:rPr>
              <a:t> </a:t>
            </a: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a:p>
        </p:txBody>
      </p:sp>
      <p:sp>
        <p:nvSpPr>
          <p:cNvPr id="9" name="Text Placeholder 8"/>
          <p:cNvSpPr>
            <a:spLocks noGrp="1"/>
          </p:cNvSpPr>
          <p:nvPr>
            <p:ph type="body" idx="1"/>
          </p:nvPr>
        </p:nvSpPr>
        <p:spPr>
          <a:xfrm>
            <a:off x="609600" y="2019299"/>
            <a:ext cx="7381875" cy="3571875"/>
          </a:xfrm>
        </p:spPr>
        <p:txBody>
          <a:bodyPr/>
          <a:lstStyle/>
          <a:p>
            <a:pPr marL="285750" indent="-285750">
              <a:buFont typeface="Arial" panose="020B0604020202020204" pitchFamily="34" charset="0"/>
              <a:buChar char="•"/>
            </a:pPr>
            <a:r>
              <a:rPr lang="en-IN" dirty="0" smtClean="0"/>
              <a:t>Despite having access to various employee performance and HR metrics the organization lacks a comprehensive system to analysis and leverage this data for making informed </a:t>
            </a:r>
            <a:r>
              <a:rPr lang="en-IN" dirty="0" err="1" smtClean="0"/>
              <a:t>descision</a:t>
            </a:r>
            <a:endParaRPr lang="en-IN" dirty="0" smtClean="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This results in inefficiencies in workforce management low employee </a:t>
            </a:r>
            <a:r>
              <a:rPr lang="en-IN" dirty="0" err="1" smtClean="0"/>
              <a:t>engegament</a:t>
            </a:r>
            <a:r>
              <a:rPr lang="en-IN" dirty="0" smtClean="0"/>
              <a:t> and suboptimal retention rates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The objective of this project is to systematically analysis employee data to identify key trends improve employee performance increase engagement and optimize retention strategies </a:t>
            </a:r>
            <a:endParaRPr lang="en-IN" dirty="0"/>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4</a:t>
            </a:fld>
            <a:endParaRPr spc="10" dirty="0"/>
          </a:p>
        </p:txBody>
      </p:sp>
      <p:pic>
        <p:nvPicPr>
          <p:cNvPr id="8" name="object 8"/>
          <p:cNvPicPr/>
          <p:nvPr/>
        </p:nvPicPr>
        <p:blipFill>
          <a:blip r:embed="rId3" cstate="print"/>
          <a:stretch>
            <a:fillRect/>
          </a:stretch>
        </p:blipFill>
        <p:spPr>
          <a:xfrm>
            <a:off x="676275" y="6467475"/>
            <a:ext cx="2143125" cy="2000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a:p>
        </p:txBody>
      </p:sp>
      <p:sp>
        <p:nvSpPr>
          <p:cNvPr id="9" name="Text Placeholder 8"/>
          <p:cNvSpPr>
            <a:spLocks noGrp="1"/>
          </p:cNvSpPr>
          <p:nvPr>
            <p:ph type="body" idx="1"/>
          </p:nvPr>
        </p:nvSpPr>
        <p:spPr>
          <a:xfrm>
            <a:off x="609600" y="3352800"/>
            <a:ext cx="8048625" cy="2819400"/>
          </a:xfrm>
        </p:spPr>
        <p:txBody>
          <a:bodyPr/>
          <a:lstStyle/>
          <a:p>
            <a:pPr marL="285750" indent="-285750">
              <a:buFont typeface="Arial" panose="020B0604020202020204" pitchFamily="34" charset="0"/>
              <a:buChar char="•"/>
            </a:pPr>
            <a:r>
              <a:rPr lang="en-IN" dirty="0" smtClean="0"/>
              <a:t>Gather </a:t>
            </a:r>
            <a:r>
              <a:rPr lang="en-IN" dirty="0" err="1" smtClean="0"/>
              <a:t>conprehensive</a:t>
            </a:r>
            <a:r>
              <a:rPr lang="en-IN" dirty="0" smtClean="0"/>
              <a:t> data related to employee performance attendance skills development </a:t>
            </a:r>
            <a:r>
              <a:rPr lang="en-IN" dirty="0" err="1" smtClean="0"/>
              <a:t>satisfication</a:t>
            </a:r>
            <a:r>
              <a:rPr lang="en-IN" dirty="0" smtClean="0"/>
              <a:t> and turnover rates from </a:t>
            </a:r>
            <a:r>
              <a:rPr lang="en-IN" dirty="0" err="1" smtClean="0"/>
              <a:t>mutiple</a:t>
            </a:r>
            <a:r>
              <a:rPr lang="en-IN" dirty="0" smtClean="0"/>
              <a:t> sources such as HR database performance </a:t>
            </a:r>
            <a:r>
              <a:rPr lang="en-IN" dirty="0" err="1" smtClean="0"/>
              <a:t>mangegament</a:t>
            </a:r>
            <a:r>
              <a:rPr lang="en-IN" dirty="0" smtClean="0"/>
              <a:t> system and system tools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Establish a system for ongoing monitoring of employee data to ensure the continuous improvement of workforces strategies </a:t>
            </a:r>
            <a:endParaRPr lang="en-IN" dirty="0"/>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5</a:t>
            </a:fld>
            <a:endParaRPr spc="10" dirty="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1" name="TextBox 10">
            <a:extLst>
              <a:ext uri="{FF2B5EF4-FFF2-40B4-BE49-F238E27FC236}">
                <a16:creationId xmlns:a16="http://schemas.microsoft.com/office/drawing/2014/main" xmlns="" id="{F050B57B-77CA-84FA-9910-3F41C17BBB48}"/>
              </a:ext>
            </a:extLst>
          </p:cNvPr>
          <p:cNvSpPr txBox="1"/>
          <p:nvPr/>
        </p:nvSpPr>
        <p:spPr>
          <a:xfrm>
            <a:off x="990600" y="2133600"/>
            <a:ext cx="7924800" cy="830997"/>
          </a:xfrm>
          <a:prstGeom prst="rect">
            <a:avLst/>
          </a:prstGeom>
          <a:noFill/>
        </p:spPr>
        <p:txBody>
          <a:bodyPr wrap="square" rtlCol="0">
            <a:spAutoFit/>
          </a:bodyPr>
          <a:lstStyle/>
          <a:p>
            <a:pPr algn="l">
              <a:buFont typeface="Arial" panose="020B0604020202020204" pitchFamily="34" charset="0"/>
              <a:buChar char="•"/>
            </a:pPr>
            <a:r>
              <a:rPr lang="en-US" sz="2400" b="0" i="0" dirty="0">
                <a:solidFill>
                  <a:srgbClr val="0D0D0D"/>
                </a:solidFill>
                <a:effectLst/>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a:p>
        </p:txBody>
      </p:sp>
      <p:sp>
        <p:nvSpPr>
          <p:cNvPr id="7" name="Text Placeholder 6"/>
          <p:cNvSpPr>
            <a:spLocks noGrp="1"/>
          </p:cNvSpPr>
          <p:nvPr>
            <p:ph type="body" idx="1"/>
          </p:nvPr>
        </p:nvSpPr>
        <p:spPr>
          <a:xfrm>
            <a:off x="723900" y="2514600"/>
            <a:ext cx="7886700" cy="3810000"/>
          </a:xfrm>
        </p:spPr>
        <p:txBody>
          <a:bodyPr/>
          <a:lstStyle/>
          <a:p>
            <a:pPr marL="285750" indent="-285750">
              <a:buFont typeface="Arial" panose="020B0604020202020204" pitchFamily="34" charset="0"/>
              <a:buChar char="•"/>
            </a:pPr>
            <a:r>
              <a:rPr lang="en-IN" dirty="0" smtClean="0"/>
              <a:t>HR professional use the data to make informed decisions about </a:t>
            </a:r>
            <a:r>
              <a:rPr lang="en-IN" dirty="0" err="1" smtClean="0"/>
              <a:t>recruirment</a:t>
            </a:r>
            <a:r>
              <a:rPr lang="en-IN" dirty="0" smtClean="0"/>
              <a:t> performance evaluation training  programs and retention strategies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Managers utilize employee performance and engagement insights to better manage teams assign tasks </a:t>
            </a:r>
            <a:r>
              <a:rPr lang="en-IN" dirty="0" err="1" smtClean="0"/>
              <a:t>effictively</a:t>
            </a:r>
            <a:r>
              <a:rPr lang="en-IN" dirty="0" smtClean="0"/>
              <a:t> and identify high performing or underperforming employee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Executives use the analysis to make strategic decisions about workforces </a:t>
            </a:r>
            <a:endParaRPr lang="en-IN" dirty="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6</a:t>
            </a:fld>
            <a:endParaRPr spc="10" dirty="0"/>
          </a:p>
        </p:txBody>
      </p:sp>
      <p:pic>
        <p:nvPicPr>
          <p:cNvPr id="6" name="object 6"/>
          <p:cNvPicPr/>
          <p:nvPr/>
        </p:nvPicPr>
        <p:blipFill>
          <a:blip r:embed="rId2" cstate="print"/>
          <a:stretch>
            <a:fillRect/>
          </a:stretch>
        </p:blipFill>
        <p:spPr>
          <a:xfrm>
            <a:off x="723900" y="6172200"/>
            <a:ext cx="2181225" cy="4857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z="3600" spc="10" dirty="0"/>
              <a:t>O</a:t>
            </a:r>
            <a:r>
              <a:rPr sz="3600" spc="25" dirty="0"/>
              <a:t>U</a:t>
            </a:r>
            <a:r>
              <a:rPr sz="3600" dirty="0"/>
              <a:t>R</a:t>
            </a:r>
            <a:r>
              <a:rPr sz="3600" spc="5" dirty="0"/>
              <a:t> </a:t>
            </a:r>
            <a:r>
              <a:rPr sz="3600" spc="25" dirty="0"/>
              <a:t>S</a:t>
            </a:r>
            <a:r>
              <a:rPr sz="3600" spc="10" dirty="0"/>
              <a:t>O</a:t>
            </a:r>
            <a:r>
              <a:rPr sz="3600" spc="25" dirty="0"/>
              <a:t>LU</a:t>
            </a:r>
            <a:r>
              <a:rPr sz="3600" spc="-35" dirty="0"/>
              <a:t>T</a:t>
            </a:r>
            <a:r>
              <a:rPr sz="3600" spc="-30" dirty="0"/>
              <a:t>I</a:t>
            </a:r>
            <a:r>
              <a:rPr sz="3600" spc="10" dirty="0"/>
              <a:t>O</a:t>
            </a:r>
            <a:r>
              <a:rPr sz="3600" dirty="0"/>
              <a:t>N</a:t>
            </a:r>
            <a:r>
              <a:rPr sz="3600" spc="-345" dirty="0"/>
              <a:t> </a:t>
            </a:r>
            <a:r>
              <a:rPr sz="3600" spc="-35" dirty="0"/>
              <a:t>A</a:t>
            </a:r>
            <a:r>
              <a:rPr sz="3600" spc="-5" dirty="0"/>
              <a:t>N</a:t>
            </a:r>
            <a:r>
              <a:rPr sz="3600" dirty="0"/>
              <a:t>D</a:t>
            </a:r>
            <a:r>
              <a:rPr sz="3600" spc="35" dirty="0"/>
              <a:t> </a:t>
            </a:r>
            <a:r>
              <a:rPr sz="3600" spc="-30" dirty="0"/>
              <a:t>I</a:t>
            </a:r>
            <a:r>
              <a:rPr sz="3600" spc="-35" dirty="0"/>
              <a:t>T</a:t>
            </a:r>
            <a:r>
              <a:rPr sz="3600" dirty="0"/>
              <a:t>S</a:t>
            </a:r>
            <a:r>
              <a:rPr sz="3600" spc="60" dirty="0"/>
              <a:t> </a:t>
            </a:r>
            <a:r>
              <a:rPr sz="3600" spc="-295" dirty="0"/>
              <a:t>V</a:t>
            </a:r>
            <a:r>
              <a:rPr sz="3600" spc="-35" dirty="0"/>
              <a:t>A</a:t>
            </a:r>
            <a:r>
              <a:rPr sz="3600" spc="25" dirty="0"/>
              <a:t>LU</a:t>
            </a:r>
            <a:r>
              <a:rPr sz="3600" dirty="0"/>
              <a:t>E</a:t>
            </a:r>
            <a:r>
              <a:rPr sz="3600" spc="-65" dirty="0"/>
              <a:t> </a:t>
            </a:r>
            <a:r>
              <a:rPr sz="3600" spc="-15" dirty="0"/>
              <a:t>P</a:t>
            </a:r>
            <a:r>
              <a:rPr sz="3600" spc="-30" dirty="0"/>
              <a:t>R</a:t>
            </a:r>
            <a:r>
              <a:rPr sz="3600" spc="10" dirty="0"/>
              <a:t>O</a:t>
            </a:r>
            <a:r>
              <a:rPr sz="3600" spc="-15" dirty="0"/>
              <a:t>P</a:t>
            </a:r>
            <a:r>
              <a:rPr sz="3600" spc="10" dirty="0"/>
              <a:t>O</a:t>
            </a:r>
            <a:r>
              <a:rPr sz="3600" spc="25" dirty="0"/>
              <a:t>S</a:t>
            </a:r>
            <a:r>
              <a:rPr sz="3600" spc="-30" dirty="0"/>
              <a:t>I</a:t>
            </a:r>
            <a:r>
              <a:rPr sz="3600" spc="-35" dirty="0"/>
              <a:t>T</a:t>
            </a:r>
            <a:r>
              <a:rPr sz="3600" spc="-30" dirty="0"/>
              <a:t>I</a:t>
            </a:r>
            <a:r>
              <a:rPr sz="3600" spc="10" dirty="0"/>
              <a:t>O</a:t>
            </a:r>
            <a:r>
              <a:rPr sz="3600" dirty="0"/>
              <a:t>N</a:t>
            </a:r>
          </a:p>
        </p:txBody>
      </p:sp>
      <p:sp>
        <p:nvSpPr>
          <p:cNvPr id="8" name="Text Placeholder 7"/>
          <p:cNvSpPr>
            <a:spLocks noGrp="1"/>
          </p:cNvSpPr>
          <p:nvPr>
            <p:ph type="body" idx="1"/>
          </p:nvPr>
        </p:nvSpPr>
        <p:spPr>
          <a:xfrm>
            <a:off x="2819400" y="2019300"/>
            <a:ext cx="6624637" cy="2400300"/>
          </a:xfrm>
        </p:spPr>
        <p:txBody>
          <a:bodyPr/>
          <a:lstStyle/>
          <a:p>
            <a:pPr marL="285750" indent="-285750">
              <a:buFont typeface="Arial" panose="020B0604020202020204" pitchFamily="34" charset="0"/>
              <a:buChar char="•"/>
            </a:pPr>
            <a:r>
              <a:rPr lang="en-IN" dirty="0" smtClean="0"/>
              <a:t>Data integration: seamless integration with existing HR system performance management tools and employee engagement platform to gather data from </a:t>
            </a:r>
            <a:r>
              <a:rPr lang="en-IN" dirty="0" err="1" smtClean="0"/>
              <a:t>mutiple</a:t>
            </a:r>
            <a:r>
              <a:rPr lang="en-IN" dirty="0" smtClean="0"/>
              <a:t> sources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Utilize predictive analysis machine learning and data visualization tools to identify trends performance bottlenecks and potential risks related to employee turnover or disengagement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7</a:t>
            </a:fld>
            <a:endParaRPr spc="10" dirty="0"/>
          </a:p>
        </p:txBody>
      </p:sp>
      <p:pic>
        <p:nvPicPr>
          <p:cNvPr id="7" name="object 7"/>
          <p:cNvPicPr/>
          <p:nvPr/>
        </p:nvPicPr>
        <p:blipFill>
          <a:blip r:embed="rId3" cstate="print"/>
          <a:stretch>
            <a:fillRect/>
          </a:stretch>
        </p:blipFill>
        <p:spPr>
          <a:xfrm>
            <a:off x="676275" y="6467475"/>
            <a:ext cx="2143125" cy="2000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06195E-16D6-79D8-7A9F-F8EB1FE9E212}"/>
              </a:ext>
            </a:extLst>
          </p:cNvPr>
          <p:cNvSpPr>
            <a:spLocks noGrp="1"/>
          </p:cNvSpPr>
          <p:nvPr>
            <p:ph type="title"/>
          </p:nvPr>
        </p:nvSpPr>
        <p:spPr/>
        <p:txBody>
          <a:bodyPr/>
          <a:lstStyle/>
          <a:p>
            <a:r>
              <a:rPr lang="en-IN" dirty="0"/>
              <a:t>Dataset Description</a:t>
            </a:r>
          </a:p>
        </p:txBody>
      </p:sp>
      <p:sp>
        <p:nvSpPr>
          <p:cNvPr id="3" name="Text Placeholder 2"/>
          <p:cNvSpPr>
            <a:spLocks noGrp="1"/>
          </p:cNvSpPr>
          <p:nvPr>
            <p:ph type="body" idx="1"/>
          </p:nvPr>
        </p:nvSpPr>
        <p:spPr>
          <a:xfrm>
            <a:off x="609600" y="2514600"/>
            <a:ext cx="9296400" cy="2514600"/>
          </a:xfrm>
        </p:spPr>
        <p:txBody>
          <a:bodyPr/>
          <a:lstStyle/>
          <a:p>
            <a:pPr marL="285750" indent="-285750">
              <a:buFont typeface="Arial" panose="020B0604020202020204" pitchFamily="34" charset="0"/>
              <a:buChar char="•"/>
            </a:pPr>
            <a:r>
              <a:rPr lang="en-IN" dirty="0" smtClean="0"/>
              <a:t>The dataset used for employee data analysis typically consists of various attributes  related to employee their interaction with the organization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Below is overviews of the key data categories and variables that may be includes in such a dataset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Unique identifier for each employee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The department for business unit the employee belongs </a:t>
            </a:r>
            <a:r>
              <a:rPr lang="en-IN" dirty="0" err="1" smtClean="0"/>
              <a:t>eg</a:t>
            </a:r>
            <a:r>
              <a:rPr lang="en-IN" dirty="0" smtClean="0"/>
              <a:t> HR  sales IT </a:t>
            </a:r>
            <a:endParaRPr lang="en-IN" dirty="0"/>
          </a:p>
        </p:txBody>
      </p:sp>
    </p:spTree>
    <p:extLst>
      <p:ext uri="{BB962C8B-B14F-4D97-AF65-F5344CB8AC3E}">
        <p14:creationId xmlns:p14="http://schemas.microsoft.com/office/powerpoint/2010/main" val="2720660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z="4250" spc="15" dirty="0"/>
              <a:t>THE</a:t>
            </a:r>
            <a:r>
              <a:rPr sz="4250" spc="20" dirty="0"/>
              <a:t> </a:t>
            </a:r>
            <a:r>
              <a:rPr lang="en-US" sz="4250" spc="20" dirty="0"/>
              <a:t>"</a:t>
            </a:r>
            <a:r>
              <a:rPr sz="4250" spc="10" dirty="0"/>
              <a:t>WOW</a:t>
            </a:r>
            <a:r>
              <a:rPr lang="en-US" sz="4250" spc="10" dirty="0"/>
              <a:t>"</a:t>
            </a:r>
            <a:r>
              <a:rPr sz="4250" spc="85" dirty="0"/>
              <a:t> </a:t>
            </a:r>
            <a:r>
              <a:rPr sz="4250" spc="10" dirty="0"/>
              <a:t>IN</a:t>
            </a:r>
            <a:r>
              <a:rPr sz="4250" spc="-5" dirty="0"/>
              <a:t> </a:t>
            </a:r>
            <a:r>
              <a:rPr sz="4250" spc="15" dirty="0"/>
              <a:t>OUR</a:t>
            </a:r>
            <a:r>
              <a:rPr sz="4250" spc="-10" dirty="0"/>
              <a:t> </a:t>
            </a:r>
            <a:r>
              <a:rPr sz="4250" spc="20" dirty="0"/>
              <a:t>SOLUTION</a:t>
            </a:r>
            <a:endParaRPr sz="4250" dirty="0"/>
          </a:p>
        </p:txBody>
      </p:sp>
      <p:sp>
        <p:nvSpPr>
          <p:cNvPr id="10" name="Text Placeholder 9"/>
          <p:cNvSpPr>
            <a:spLocks noGrp="1"/>
          </p:cNvSpPr>
          <p:nvPr>
            <p:ph type="body" idx="1"/>
          </p:nvPr>
        </p:nvSpPr>
        <p:spPr>
          <a:xfrm>
            <a:off x="2819400" y="3733800"/>
            <a:ext cx="6172200" cy="2590800"/>
          </a:xfrm>
        </p:spPr>
        <p:txBody>
          <a:bodyPr/>
          <a:lstStyle/>
          <a:p>
            <a:pPr marL="285750" indent="-285750">
              <a:buFont typeface="Arial" panose="020B0604020202020204" pitchFamily="34" charset="0"/>
              <a:buChar char="•"/>
            </a:pPr>
            <a:r>
              <a:rPr lang="en-IN" dirty="0" smtClean="0"/>
              <a:t>Our solution data analysis solution stands out because of several innovative and cutting edge features that deliver exceptional value these wow elements make it not just a typical analysis platform but a transformative tool for workforce management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smtClean="0"/>
          </a:p>
          <a:p>
            <a:pPr marL="285750" indent="-285750">
              <a:buFont typeface="Arial" panose="020B0604020202020204" pitchFamily="34" charset="0"/>
              <a:buChar char="•"/>
            </a:pPr>
            <a:r>
              <a:rPr lang="en-IN" dirty="0" smtClean="0"/>
              <a:t>Reduces employee churn saving time and money on recruitment and </a:t>
            </a:r>
            <a:r>
              <a:rPr lang="en-IN" dirty="0" err="1" smtClean="0"/>
              <a:t>inboarding</a:t>
            </a:r>
            <a:r>
              <a:rPr lang="en-IN" dirty="0" smtClean="0"/>
              <a:t> while fostering a more stable workforce </a:t>
            </a:r>
            <a:endParaRPr lang="en-IN" dirty="0"/>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9</a:t>
            </a:fld>
            <a:endParaRPr sz="1100">
              <a:latin typeface="Trebuchet MS"/>
              <a:cs typeface="Trebuchet MS"/>
            </a:endParaRPr>
          </a:p>
        </p:txBody>
      </p:sp>
      <p:sp>
        <p:nvSpPr>
          <p:cNvPr id="9" name="TextBox 8">
            <a:extLst>
              <a:ext uri="{FF2B5EF4-FFF2-40B4-BE49-F238E27FC236}">
                <a16:creationId xmlns:a16="http://schemas.microsoft.com/office/drawing/2014/main" xmlns="" id="{FAD9CEB2-36E1-0550-426B-2FAF97882044}"/>
              </a:ext>
            </a:extLst>
          </p:cNvPr>
          <p:cNvSpPr txBox="1"/>
          <p:nvPr/>
        </p:nvSpPr>
        <p:spPr>
          <a:xfrm>
            <a:off x="2743200" y="2354703"/>
            <a:ext cx="8534018" cy="954107"/>
          </a:xfrm>
          <a:prstGeom prst="rect">
            <a:avLst/>
          </a:prstGeom>
          <a:noFill/>
        </p:spPr>
        <p:txBody>
          <a:bodyPr wrap="square" rtlCol="0">
            <a:spAutoFit/>
          </a:bodyPr>
          <a:lstStyle/>
          <a:p>
            <a:pPr algn="l">
              <a:buFont typeface="Arial" panose="020B0604020202020204" pitchFamily="34" charset="0"/>
              <a:buChar char="•"/>
            </a:pP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10</a:t>
            </a:fld>
            <a:endParaRPr sz="1100">
              <a:latin typeface="Trebuchet MS"/>
              <a:cs typeface="Trebuchet MS"/>
            </a:endParaRPr>
          </a:p>
        </p:txBody>
      </p:sp>
      <p:sp>
        <p:nvSpPr>
          <p:cNvPr id="8" name="object 8"/>
          <p:cNvSpPr txBox="1"/>
          <p:nvPr/>
        </p:nvSpPr>
        <p:spPr>
          <a:xfrm>
            <a:off x="739775" y="291147"/>
            <a:ext cx="3303904" cy="758190"/>
          </a:xfrm>
          <a:prstGeom prst="rect">
            <a:avLst/>
          </a:prstGeom>
        </p:spPr>
        <p:txBody>
          <a:bodyPr vert="horz" wrap="square" lIns="0" tIns="13335" rIns="0" bIns="0" rtlCol="0">
            <a:spAutoFit/>
          </a:bodyPr>
          <a:lstStyle/>
          <a:p>
            <a:pPr marL="12700">
              <a:lnSpc>
                <a:spcPct val="100000"/>
              </a:lnSpc>
              <a:spcBef>
                <a:spcPts val="105"/>
              </a:spcBef>
            </a:pPr>
            <a:r>
              <a:rPr sz="4800" b="1" spc="15" dirty="0">
                <a:latin typeface="Trebuchet MS"/>
                <a:cs typeface="Trebuchet MS"/>
              </a:rPr>
              <a:t>M</a:t>
            </a:r>
            <a:r>
              <a:rPr sz="4800" b="1" dirty="0">
                <a:latin typeface="Trebuchet MS"/>
                <a:cs typeface="Trebuchet MS"/>
              </a:rPr>
              <a:t>O</a:t>
            </a:r>
            <a:r>
              <a:rPr sz="4800" b="1" spc="-15" dirty="0">
                <a:latin typeface="Trebuchet MS"/>
                <a:cs typeface="Trebuchet MS"/>
              </a:rPr>
              <a:t>D</a:t>
            </a:r>
            <a:r>
              <a:rPr sz="4800" b="1" spc="-35" dirty="0">
                <a:latin typeface="Trebuchet MS"/>
                <a:cs typeface="Trebuchet MS"/>
              </a:rPr>
              <a:t>E</a:t>
            </a:r>
            <a:r>
              <a:rPr sz="4800" b="1" spc="-30" dirty="0">
                <a:latin typeface="Trebuchet MS"/>
                <a:cs typeface="Trebuchet MS"/>
              </a:rPr>
              <a:t>LL</a:t>
            </a:r>
            <a:r>
              <a:rPr sz="4800" b="1" spc="-5" dirty="0">
                <a:latin typeface="Trebuchet MS"/>
                <a:cs typeface="Trebuchet MS"/>
              </a:rPr>
              <a:t>I</a:t>
            </a:r>
            <a:r>
              <a:rPr sz="4800" b="1" spc="30" dirty="0">
                <a:latin typeface="Trebuchet MS"/>
                <a:cs typeface="Trebuchet MS"/>
              </a:rPr>
              <a:t>N</a:t>
            </a:r>
            <a:r>
              <a:rPr sz="4800" b="1" spc="5" dirty="0">
                <a:latin typeface="Trebuchet MS"/>
                <a:cs typeface="Trebuchet MS"/>
              </a:rPr>
              <a:t>G</a:t>
            </a:r>
            <a:endParaRPr sz="4800" dirty="0">
              <a:latin typeface="Trebuchet MS"/>
              <a:cs typeface="Trebuchet MS"/>
            </a:endParaRPr>
          </a:p>
        </p:txBody>
      </p:sp>
      <p:sp>
        <p:nvSpPr>
          <p:cNvPr id="14" name="object 3"/>
          <p:cNvSpPr/>
          <p:nvPr/>
        </p:nvSpPr>
        <p:spPr>
          <a:xfrm>
            <a:off x="10058400" y="525141"/>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2" name="Title 1"/>
          <p:cNvSpPr>
            <a:spLocks noGrp="1"/>
          </p:cNvSpPr>
          <p:nvPr>
            <p:ph type="title"/>
          </p:nvPr>
        </p:nvSpPr>
        <p:spPr/>
        <p:txBody>
          <a:bodyPr/>
          <a:lstStyle/>
          <a:p>
            <a:endParaRPr lang="en-IN" dirty="0"/>
          </a:p>
        </p:txBody>
      </p:sp>
      <p:sp>
        <p:nvSpPr>
          <p:cNvPr id="3" name="Text Placeholder 2"/>
          <p:cNvSpPr>
            <a:spLocks noGrp="1"/>
          </p:cNvSpPr>
          <p:nvPr>
            <p:ph type="body" idx="1"/>
          </p:nvPr>
        </p:nvSpPr>
        <p:spPr>
          <a:xfrm>
            <a:off x="990600" y="1577340"/>
            <a:ext cx="8077200" cy="2689860"/>
          </a:xfrm>
        </p:spPr>
        <p:txBody>
          <a:bodyPr/>
          <a:lstStyle/>
          <a:p>
            <a:pPr marL="285750" indent="-285750">
              <a:buFont typeface="Arial" panose="020B0604020202020204" pitchFamily="34" charset="0"/>
              <a:buChar char="•"/>
            </a:pPr>
            <a:r>
              <a:rPr lang="en-IN" dirty="0" smtClean="0"/>
              <a:t>In an employee data analysis project </a:t>
            </a:r>
            <a:r>
              <a:rPr lang="en-IN" dirty="0" err="1" smtClean="0"/>
              <a:t>modeling</a:t>
            </a:r>
            <a:r>
              <a:rPr lang="en-IN" dirty="0" smtClean="0"/>
              <a:t> plays a critical role in deriving insights making predictions and optimizing HR and management </a:t>
            </a:r>
            <a:r>
              <a:rPr lang="en-IN" dirty="0" err="1" smtClean="0"/>
              <a:t>strategics</a:t>
            </a:r>
            <a:r>
              <a:rPr lang="en-IN" dirty="0" smtClean="0"/>
              <a:t> there are several types of models that can be applied to employee data to understand trends forecast outcomes and support decision making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To predict future outcomes such as employee attrition performance likelihood </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3" cstate="print"/>
          <a:stretch>
            <a:fillRect/>
          </a:stretch>
        </p:blipFill>
        <p:spPr>
          <a:xfrm>
            <a:off x="1666875" y="6467475"/>
            <a:ext cx="76200" cy="177800"/>
          </a:xfrm>
          <a:prstGeom prst="rect">
            <a:avLst/>
          </a:prstGeom>
        </p:spPr>
      </p:pic>
      <p:sp>
        <p:nvSpPr>
          <p:cNvPr id="7" name="object 7"/>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R</a:t>
            </a:r>
            <a:r>
              <a:rPr spc="-40" dirty="0"/>
              <a:t>E</a:t>
            </a:r>
            <a:r>
              <a:rPr spc="15" dirty="0"/>
              <a:t>S</a:t>
            </a:r>
            <a:r>
              <a:rPr spc="-30" dirty="0"/>
              <a:t>U</a:t>
            </a:r>
            <a:r>
              <a:rPr spc="-405" dirty="0"/>
              <a:t>L</a:t>
            </a:r>
            <a:r>
              <a:rPr dirty="0"/>
              <a:t>TS</a:t>
            </a:r>
          </a:p>
        </p:txBody>
      </p:sp>
      <p:sp>
        <p:nvSpPr>
          <p:cNvPr id="2" name="Text Placeholder 1"/>
          <p:cNvSpPr>
            <a:spLocks noGrp="1"/>
          </p:cNvSpPr>
          <p:nvPr>
            <p:ph type="body" idx="1"/>
          </p:nvPr>
        </p:nvSpPr>
        <p:spPr/>
        <p:txBody>
          <a:bodyPr/>
          <a:lstStyle/>
          <a:p>
            <a:endParaRPr lang="en-IN" dirty="0"/>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11</a:t>
            </a:fld>
            <a:endParaRPr sz="1100">
              <a:latin typeface="Trebuchet MS"/>
              <a:cs typeface="Trebuchet MS"/>
            </a:endParaRPr>
          </a:p>
        </p:txBody>
      </p:sp>
      <p:graphicFrame>
        <p:nvGraphicFramePr>
          <p:cNvPr id="10" name="Object 9"/>
          <p:cNvGraphicFramePr>
            <a:graphicFrameLocks noChangeAspect="1"/>
          </p:cNvGraphicFramePr>
          <p:nvPr>
            <p:extLst>
              <p:ext uri="{D42A27DB-BD31-4B8C-83A1-F6EECF244321}">
                <p14:modId xmlns:p14="http://schemas.microsoft.com/office/powerpoint/2010/main" val="3698852375"/>
              </p:ext>
            </p:extLst>
          </p:nvPr>
        </p:nvGraphicFramePr>
        <p:xfrm>
          <a:off x="2362200" y="1796585"/>
          <a:ext cx="5715000" cy="3812233"/>
        </p:xfrm>
        <a:graphic>
          <a:graphicData uri="http://schemas.openxmlformats.org/presentationml/2006/ole">
            <mc:AlternateContent xmlns:mc="http://schemas.openxmlformats.org/markup-compatibility/2006">
              <mc:Choice xmlns:v="urn:schemas-microsoft-com:vml" Requires="v">
                <p:oleObj spid="_x0000_s1028" name="Chart" r:id="rId4" imgW="8124701" imgH="5419802" progId="MSGraph.Chart.8">
                  <p:embed followColorScheme="full"/>
                </p:oleObj>
              </mc:Choice>
              <mc:Fallback>
                <p:oleObj name="Chart" r:id="rId4" imgW="8124701" imgH="5419802" progId="MSGraph.Chart.8">
                  <p:embed followColorScheme="full"/>
                  <p:pic>
                    <p:nvPicPr>
                      <p:cNvPr id="0" name=""/>
                      <p:cNvPicPr/>
                      <p:nvPr/>
                    </p:nvPicPr>
                    <p:blipFill>
                      <a:blip r:embed="rId5"/>
                      <a:stretch>
                        <a:fillRect/>
                      </a:stretch>
                    </p:blipFill>
                    <p:spPr>
                      <a:xfrm>
                        <a:off x="2362200" y="1796585"/>
                        <a:ext cx="5715000" cy="3812233"/>
                      </a:xfrm>
                      <a:prstGeom prst="rect">
                        <a:avLst/>
                      </a:prstGeom>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A5CB5B-BDD0-5A64-1A7C-37D3C88F8F9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609600" y="2286000"/>
            <a:ext cx="8305800" cy="2613660"/>
          </a:xfrm>
        </p:spPr>
        <p:txBody>
          <a:bodyPr/>
          <a:lstStyle/>
          <a:p>
            <a:pPr marL="285750" indent="-285750">
              <a:buFont typeface="Arial" panose="020B0604020202020204" pitchFamily="34" charset="0"/>
              <a:buChar char="•"/>
            </a:pPr>
            <a:r>
              <a:rPr lang="en-IN" dirty="0" smtClean="0"/>
              <a:t>In conclusion employee data analysis offers organization a powerful toolkit for understanding and optimizing their workforces by systematically collecting analysis and interpreting employee related data business can gain actionable insights that drive strategic HR decisions and enhance overall organizational performance </a:t>
            </a:r>
            <a:endParaRPr lang="en-IN" dirty="0"/>
          </a:p>
        </p:txBody>
      </p:sp>
    </p:spTree>
    <p:extLst>
      <p:ext uri="{BB962C8B-B14F-4D97-AF65-F5344CB8AC3E}">
        <p14:creationId xmlns:p14="http://schemas.microsoft.com/office/powerpoint/2010/main" val="2986442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243</TotalTime>
  <Words>508</Words>
  <Application>Microsoft Office PowerPoint</Application>
  <PresentationFormat>Custom</PresentationFormat>
  <Paragraphs>75</Paragraphs>
  <Slides>12</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4" baseType="lpstr">
      <vt:lpstr>Office Theme</vt:lpstr>
      <vt:lpstr>Microsoft Graph Chart</vt:lpstr>
      <vt:lpstr>Employee Data Analysis using Excel  </vt:lpstr>
      <vt:lpstr>PROJECT TITLE</vt:lpstr>
      <vt:lpstr>AGENDA</vt:lpstr>
      <vt:lpstr>PROBLEM STATEMENT</vt:lpstr>
      <vt:lpstr>PROJECT OVERVIEW</vt:lpstr>
      <vt:lpstr>WHO ARE THE END USERS?</vt:lpstr>
      <vt:lpstr>OUR SOLUTION AND ITS VALUE PROPOSITION</vt:lpstr>
      <vt:lpstr>Dataset Description</vt:lpstr>
      <vt:lpstr>THE "WOW" IN OUR SOLUTION</vt:lpstr>
      <vt:lpstr>PowerPoint Presentation</vt:lpstr>
      <vt:lpstr>RESULTS</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Mask Detection using Convolutional Neural Network (CNN)</dc:title>
  <dc:creator>Konduru Narasimha</dc:creator>
  <cp:lastModifiedBy>ELCOT</cp:lastModifiedBy>
  <cp:revision>19</cp:revision>
  <dcterms:created xsi:type="dcterms:W3CDTF">2024-03-29T15:07:22Z</dcterms:created>
  <dcterms:modified xsi:type="dcterms:W3CDTF">2024-09-19T12:42:12Z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ies>
</file>